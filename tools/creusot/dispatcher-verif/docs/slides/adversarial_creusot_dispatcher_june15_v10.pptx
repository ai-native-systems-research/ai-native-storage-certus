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93973"/>
  </p:normalViewPr>
  <p:slideViewPr>
    <p:cSldViewPr snapToGrid="0" snapToObjects="1">
      <p:cViewPr varScale="1">
        <p:scale>
          <a:sx n="119" d="100"/>
          <a:sy n="119" d="100"/>
        </p:scale>
        <p:origin x="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>
                <a:solidFill>
                  <a:srgbClr val="F2F6FF"/>
                </a:solidFill>
              </a:rPr>
              <a:t>Dispatcher Verification Adversarial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1C9FF"/>
                </a:solidFill>
              </a:rPr>
              <a:t>Creusot-focused case study in Certus (with Kani and Spin as complementary context)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Verifier roles in Certus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In Certus, we use multiple formal verification tools because each one targets a different class of risk, and together they provide stronger assurance than any single verifier alone.</a:t>
            </a:r>
          </a:p>
          <a:p>
            <a:pPr lvl="1"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• Spin is a model checker for concurrent systems. It explores protocol-level interleavings and is effective for deadlock detection, safety properties, and liveness/progress checks on abstract models.</a:t>
            </a:r>
          </a:p>
          <a:p>
            <a:pPr lvl="1"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• Kani is a bounded model checker for Rust programs. It is practical for quickly finding concrete counterexamples in implementation code, within selected loop-unwind and bound limits.</a:t>
            </a:r>
          </a:p>
          <a:p>
            <a:pPr lvl="1"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• Creusot is a deductive verifier for Rust. It proves functional correctness properties from contracts and invariants, supporting unbounded reasoning when the required specifications and proof obligations are provided.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Why they are complementary: Spin emphasizes concurrency behavior at the architecture/model level, Kani emphasizes bug finding in concrete code paths, and Creusot emphasizes proof-oriented functional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What this review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Primary focus: Creusot-driven adversarial assessment of generated dispatcher implementation against the dispatcher specification.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900">
                <a:solidFill>
                  <a:srgbClr val="FFFFFF"/>
                </a:solidFill>
              </a:defRPr>
            </a:pPr>
            <a:r>
              <a:t>Comparison dimensions: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defRPr sz="1900">
                <a:solidFill>
                  <a:srgbClr val="FFFFFF"/>
                </a:solidFill>
              </a:defRPr>
            </a:pPr>
            <a:r>
              <a:t>• Implementation behavior vs specification requirements (functional correctness and safety obligations).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defRPr sz="1900">
                <a:solidFill>
                  <a:srgbClr val="FFFFFF"/>
                </a:solidFill>
              </a:defRPr>
            </a:pPr>
            <a:r>
              <a:t>• Verification coverage vs specification requirements and implementation behavior (what is proven, what remains assumed, and where proof/model gaps exist).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defRPr sz="1900">
                <a:solidFill>
                  <a:srgbClr val="FFFFFF"/>
                </a:solidFill>
              </a:defRPr>
            </a:pPr>
            <a:r>
              <a:t>• Method used in this review: cross-check specification-derived properties (primary + secondary) against both generated code and current Creusot verification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Adversarial Verification Flow (Merged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DCA0"/>
                </a:solidFill>
              </a:defRPr>
            </a:pPr>
            <a:r>
              <a:t>dispatcher spec.md  ---&gt;  primary + secondary properties  ---&gt;  Creusot verification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737360"/>
            <a:ext cx="3840480" cy="731520"/>
          </a:xfrm>
          <a:prstGeom prst="roundRect">
            <a:avLst/>
          </a:prstGeom>
          <a:solidFill>
            <a:srgbClr val="373737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Dispatcher specification (spec.md)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EDCFF"/>
                </a:solidFill>
              </a:defRPr>
            </a:pPr>
            <a:r>
              <a:t>Existing path (generated)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023360" cy="822960"/>
          </a:xfrm>
          <a:prstGeom prst="roundRect">
            <a:avLst/>
          </a:prstGeom>
          <a:solidFill>
            <a:srgbClr val="214882"/>
          </a:solidFill>
          <a:ln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Claude-generated Rust dispatcher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4023360" cy="868680"/>
          </a:xfrm>
          <a:prstGeom prst="roundRect">
            <a:avLst/>
          </a:prstGeom>
          <a:solidFill>
            <a:srgbClr val="214882"/>
          </a:solidFill>
          <a:ln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Claude-generated Creusot checks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(from generated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9FFDC"/>
                </a:solidFill>
              </a:defRPr>
            </a:pPr>
            <a:r>
              <a:t>Adversarial path (spec-first)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560320"/>
            <a:ext cx="4206240" cy="822960"/>
          </a:xfrm>
          <a:prstGeom prst="roundRect">
            <a:avLst/>
          </a:prstGeom>
          <a:solidFill>
            <a:srgbClr val="1B6C48"/>
          </a:solidFill>
          <a:ln>
            <a:solidFill>
              <a:srgbClr val="AFF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Codex extracts primary + secondary properties from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657600"/>
            <a:ext cx="4206240" cy="868680"/>
          </a:xfrm>
          <a:prstGeom prst="roundRect">
            <a:avLst/>
          </a:prstGeom>
          <a:solidFill>
            <a:srgbClr val="1B6C48"/>
          </a:solidFill>
          <a:ln>
            <a:solidFill>
              <a:srgbClr val="AFF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Codex builds spec-first Creusot model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+ coverage mapping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31720" y="2240280"/>
            <a:ext cx="502920" cy="320040"/>
          </a:xfrm>
          <a:prstGeom prst="downArrow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9509760" y="2240280"/>
            <a:ext cx="502920" cy="320040"/>
          </a:xfrm>
          <a:prstGeom prst="downArrow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2331720" y="3383280"/>
            <a:ext cx="502920" cy="274320"/>
          </a:xfrm>
          <a:prstGeom prst="downArrow">
            <a:avLst/>
          </a:prstGeom>
          <a:solidFill>
            <a:srgbClr val="BEDCFF"/>
          </a:solidFill>
          <a:ln>
            <a:solidFill>
              <a:srgbClr val="B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9509760" y="3383280"/>
            <a:ext cx="502920" cy="274320"/>
          </a:xfrm>
          <a:prstGeom prst="downArrow">
            <a:avLst/>
          </a:prstGeom>
          <a:solidFill>
            <a:srgbClr val="B9FFDC"/>
          </a:solidFill>
          <a:ln>
            <a:solidFill>
              <a:srgbClr val="B9F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43000" y="4800600"/>
            <a:ext cx="9875520" cy="1143000"/>
          </a:xfrm>
          <a:prstGeom prst="roundRect">
            <a:avLst/>
          </a:prstGeom>
          <a:solidFill>
            <a:srgbClr val="5C3F00"/>
          </a:solidFill>
          <a:ln w="25400">
            <a:solidFill>
              <a:srgbClr val="FFD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Goal: identify implementation-vs-spec mismatches and verification coverage gaps vs both spec and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Finding 1: Lookup Size-Mismatch Is Not Enforced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What we observed in generated dispatcher code: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In memory-tier lookup, copy size is computed as min(actual_size, requested_size), then copy proceeds.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Code evidence: copy_size = min(ipc_handle.size, size); gpu.memcpy_h2d_async(..., copy_size, ...).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Why this is a risk: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A caller can receive a partial copy instead of a clear mismatch error.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This can hide corruption/contract violations and make debugging very hard.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Spec-aligned behavior we recommend: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Before copy, require strict equality: ipc_handle.size == requested size; otherwise return InvalidParameter.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Plain-English meaning: if caller asks for 8 KB but stored object is 4 KB, fail fast; do not copy 4 KB silently.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Test to add (regression):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Create object of size A, lookup with size B != A, assert operation fails with mismatch error and no bytes copied.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Finding 2: prepare_store Registers Fixed Size Instead of Requested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What we observed in generated dispatcher code: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prepare_store(key, size) currently calls create_staging(key, 1) (fixed one block).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So requested size is not recorded at reservation time.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Why this is a risk: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Metadata can drift from actual client intent across prepare/commit/lookup lifecycle.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Later checks may appear to succeed even when reservation-size intent was incorrect.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Spec-aligned behavior we recommend: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Register requested size in blocks: size_blocks = ceil(size_bytes / 4096), then create_staging(key, size_blocks).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Plain-English meaning of registration: store the requested object size in dispatcher/map metadata immediately at prepare time.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FFDCA0"/>
                </a:solidFill>
              </a:defRPr>
            </a:pPr>
            <a:r>
              <a:t>Alternative stronger API: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Use dedicated create_pending_store_entry(key, size_blocks) to avoid overloading staging semantics.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FFFF"/>
                </a:solidFill>
              </a:defRPr>
            </a:pPr>
            <a:r>
              <a:t>Test to add (regression): prepare 12 KB, verify metadata stores 3 blocks; prepare 4097 B, verify 2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Verification Coverage Gaps and How We Track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550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Coverage finding A (dispatcher):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dispatch-map has meaningful Creusot proofs; dispatcher branch has no equivalent in-branch proof depth yet.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Risk: high-value behaviors (lookup/prepare/commit/shutdown/async worker interactions) are under-verified.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Coverage finding B (abstraction depth):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Some proofs are intentionally abstract (single-entry transitions), but system-level concurrency effects remain partly outside proof scope.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Concept 1 - Property mapping (definition + example):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Definition: map each spec property ID to concrete function(s)/proof artifact(s).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Example: P3 "size mismatch fails" -&gt; dispatcher::lookup_async guard + test lookup_mismatch_fails.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Concept 2 - Coverage matrix (definition + example):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Definition: table of properties vs status {proved, tested, assumed, missing}.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Example row: P17 | proved in model: yes | implementation test: yes | assumptions: none.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Concept 3 - Assumption ledger (definition + example):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Definition: explicit list of assumptions not yet proven, with owner and planned removal.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Example row: "worker fairness assumed" | impact: liveness only | owner: verif team | remove by Phase B2.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46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1) Patch the two concrete code issues first (lookup mismatch + prepare_store size registration).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What this means: change implementation so behavior matches spec contracts before adding more proofs.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2) Add targeted regression tests for both semantics.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Plain-English: small automated tests that lock in the expected behavior so these bugs do not return later.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Examples: mismatch lookup must fail; prepare_store must register correct block count for several sizes.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3) Build/align dispatcher property mapping and coverage matrix in-branch.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What this means: for every high-priority property, point to exact code + proof/test evidence or mark as gap.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4) Maintain and reduce the assumption ledger.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What this means: document every unproven assumption and remove assumptions one-by-one by adding proof or tests.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5) Expand from local abstractions to selected concurrency/system properties.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What this means: prove a few high-risk concurrent behaviors on a richer model, not only single-entry transitions.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FFDCA0"/>
                </a:solidFill>
              </a:defRPr>
            </a:pPr>
            <a:r>
              <a:t>Expected result for review readiness: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A traceable chain: spec property -&gt; code contract -&gt; proof/test evidence -&gt; residual assumptions (if any).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F2F6FF"/>
                </a:solidFill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2F6FF"/>
                </a:solidFill>
              </a:rPr>
              <a:t>Adversarial formal review caught concrete implementation/spec risks.</a:t>
            </a:r>
          </a:p>
          <a:p>
            <a:r>
              <a:rPr sz="2000">
                <a:solidFill>
                  <a:srgbClr val="F2F6FF"/>
                </a:solidFill>
              </a:rPr>
              <a:t>Creusot model progress is strong, but implementation coverage must catch up.</a:t>
            </a:r>
          </a:p>
          <a:p>
            <a:r>
              <a:rPr sz="2000">
                <a:solidFill>
                  <a:srgbClr val="F2F6FF"/>
                </a:solidFill>
              </a:rPr>
              <a:t>Multi-verifier strategy remains the right Certus direction: Kani + Creusot + Spin.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647</Words>
  <Application>Microsoft Macintosh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Dispatcher Verification Adversarial Assessment</vt:lpstr>
      <vt:lpstr>Verifier roles in Certus</vt:lpstr>
      <vt:lpstr>What this review covers</vt:lpstr>
      <vt:lpstr>PowerPoint Presentation</vt:lpstr>
      <vt:lpstr>PowerPoint Presentation</vt:lpstr>
      <vt:lpstr>PowerPoint Presentation</vt:lpstr>
      <vt:lpstr>Verification coverage gaps (adversarial view)</vt:lpstr>
      <vt:lpstr>Action plan after this review</vt:lpstr>
      <vt:lpstr>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Corneliu Constantinescu</cp:lastModifiedBy>
  <cp:revision>7</cp:revision>
  <dcterms:created xsi:type="dcterms:W3CDTF">2013-01-27T09:14:16Z</dcterms:created>
  <dcterms:modified xsi:type="dcterms:W3CDTF">2026-06-16T07:26:24Z</dcterms:modified>
  <cp:category/>
</cp:coreProperties>
</file>