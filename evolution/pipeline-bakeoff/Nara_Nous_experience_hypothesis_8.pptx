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>
        <p:scale>
          <a:sx n="128" d="100"/>
          <a:sy n="128" d="100"/>
        </p:scale>
        <p:origin x="4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B7217-0B79-5343-B1B0-48458EFDA311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88806D-394D-CF43-B238-14D76BBA9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29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64748B"/>
                </a:solidFill>
                <a:latin typeface="Calibri"/>
              </a:rPr>
              <a:t>—  Cold pinning — per-request </a:t>
            </a:r>
            <a:r>
              <a:rPr lang="en-US" sz="1200" dirty="0" err="1">
                <a:solidFill>
                  <a:srgbClr val="64748B"/>
                </a:solidFill>
                <a:latin typeface="Calibri"/>
              </a:rPr>
              <a:t>cudaHostRegister</a:t>
            </a:r>
            <a:r>
              <a:rPr lang="en-US" sz="1200" dirty="0">
                <a:solidFill>
                  <a:srgbClr val="64748B"/>
                </a:solidFill>
                <a:latin typeface="Calibri"/>
              </a:rPr>
              <a:t> + </a:t>
            </a:r>
            <a:r>
              <a:rPr lang="en-US" sz="1200" dirty="0" err="1">
                <a:solidFill>
                  <a:srgbClr val="64748B"/>
                </a:solidFill>
                <a:latin typeface="Calibri"/>
              </a:rPr>
              <a:t>spdk_mem_register</a:t>
            </a:r>
            <a:r>
              <a:rPr lang="en-US" sz="1200" dirty="0">
                <a:solidFill>
                  <a:srgbClr val="64748B"/>
                </a:solidFill>
                <a:latin typeface="Calibri"/>
              </a:rPr>
              <a:t>, 5–9 </a:t>
            </a:r>
            <a:r>
              <a:rPr lang="en-US" sz="1200" dirty="0" err="1">
                <a:solidFill>
                  <a:srgbClr val="64748B"/>
                </a:solidFill>
                <a:latin typeface="Calibri"/>
              </a:rPr>
              <a:t>ms</a:t>
            </a:r>
            <a:r>
              <a:rPr lang="en-US" sz="1200" dirty="0">
                <a:solidFill>
                  <a:srgbClr val="64748B"/>
                </a:solidFill>
                <a:latin typeface="Calibri"/>
              </a:rPr>
              <a:t>/call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88806D-394D-CF43-B238-14D76BBA9C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11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Recs 1-3 are from campaigns 1-9, confirmed by 10-11. Recs 4-8 (product) and 3-8 (campaigns) are new from campaigns 10-11. Hardware ceiling comparison is cheapest to implement and would have caught the biggest miss. Reference implementation as input is highest ROI (proven 10-40x).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framing is collaborative — Nous answered what we asked, we learned we were asking the wrong question, and now we know how to ask better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 dirty="0">
                <a:solidFill>
                  <a:srgbClr val="1A1A2E"/>
                </a:solidFill>
              </a:rPr>
              <a:t>Hypothesis 8</a:t>
            </a:r>
            <a:r>
              <a:rPr lang="en-US" sz="4800" b="1" i="0" dirty="0">
                <a:solidFill>
                  <a:srgbClr val="1A1A2E"/>
                </a:solidFill>
              </a:rPr>
              <a:t> for Certus</a:t>
            </a:r>
            <a:endParaRPr sz="4800" b="1" i="0" dirty="0">
              <a:solidFill>
                <a:srgbClr val="1A1A2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563EB"/>
                </a:solidFill>
              </a:rPr>
              <a:t>Pipelined Bounce vs Direct P2P for KV-Cache Loading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6B7280"/>
                </a:solidFill>
              </a:rPr>
              <a:t>Using Nous to answer a systems performance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1 /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064" y="2546365"/>
            <a:ext cx="11356975" cy="196873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5945" y="259636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6FE0"/>
                </a:solidFill>
                <a:latin typeface="Arial"/>
              </a:rPr>
              <a:t>The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5944" y="2896365"/>
            <a:ext cx="109454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1E293B"/>
                </a:solidFill>
                <a:latin typeface="Calibri"/>
              </a:rPr>
              <a:t>Certus needs to move KV-cache data from </a:t>
            </a:r>
            <a:r>
              <a:rPr lang="en-US" sz="1600" dirty="0">
                <a:solidFill>
                  <a:srgbClr val="1E293B"/>
                </a:solidFill>
                <a:latin typeface="Calibri"/>
              </a:rPr>
              <a:t>storage</a:t>
            </a:r>
            <a:r>
              <a:rPr sz="1600" dirty="0">
                <a:solidFill>
                  <a:srgbClr val="1E293B"/>
                </a:solidFill>
                <a:latin typeface="Calibri"/>
              </a:rPr>
              <a:t> to GPU memory as fast as possible. </a:t>
            </a:r>
            <a:endParaRPr lang="en-US" sz="1600" dirty="0">
              <a:solidFill>
                <a:srgbClr val="1E293B"/>
              </a:solidFill>
              <a:latin typeface="Calibri"/>
            </a:endParaRPr>
          </a:p>
          <a:p>
            <a:r>
              <a:rPr sz="1600" b="1" dirty="0">
                <a:solidFill>
                  <a:srgbClr val="1E293B"/>
                </a:solidFill>
                <a:latin typeface="Calibri"/>
              </a:rPr>
              <a:t>Two paths: </a:t>
            </a:r>
            <a:endParaRPr lang="en-US" sz="1600" b="1" dirty="0">
              <a:solidFill>
                <a:srgbClr val="1E293B"/>
              </a:solidFill>
              <a:latin typeface="Calibri"/>
            </a:endParaRPr>
          </a:p>
          <a:p>
            <a:r>
              <a:rPr lang="en-US" sz="1600" dirty="0">
                <a:solidFill>
                  <a:srgbClr val="1E293B"/>
                </a:solidFill>
                <a:latin typeface="Calibri"/>
              </a:rPr>
              <a:t>1) Pipeline B</a:t>
            </a:r>
            <a:r>
              <a:rPr sz="1600" dirty="0">
                <a:solidFill>
                  <a:srgbClr val="1E293B"/>
                </a:solidFill>
                <a:latin typeface="Calibri"/>
              </a:rPr>
              <a:t>ounce through host </a:t>
            </a:r>
            <a:r>
              <a:rPr lang="en-US" sz="1600" dirty="0">
                <a:solidFill>
                  <a:srgbClr val="1E293B"/>
                </a:solidFill>
                <a:latin typeface="Calibri"/>
              </a:rPr>
              <a:t>DRAM </a:t>
            </a:r>
          </a:p>
          <a:p>
            <a:r>
              <a:rPr lang="en-US" sz="1600" dirty="0">
                <a:solidFill>
                  <a:srgbClr val="1E293B"/>
                </a:solidFill>
                <a:latin typeface="Calibri"/>
              </a:rPr>
              <a:t>2) D</a:t>
            </a:r>
            <a:r>
              <a:rPr sz="1600" dirty="0">
                <a:solidFill>
                  <a:srgbClr val="1E293B"/>
                </a:solidFill>
                <a:latin typeface="Calibri"/>
              </a:rPr>
              <a:t>irect P2P DMA from SSD to GPU.</a:t>
            </a:r>
          </a:p>
          <a:p>
            <a:r>
              <a:rPr sz="1600" dirty="0">
                <a:solidFill>
                  <a:srgbClr val="1E293B"/>
                </a:solidFill>
                <a:latin typeface="Calibri"/>
              </a:rPr>
              <a:t>
We used Nous to find out which is faster and whether it can design and implement what's missing to test this hypothesis.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065" y="4650630"/>
            <a:ext cx="11356974" cy="1243760"/>
          </a:xfrm>
          <a:prstGeom prst="rect">
            <a:avLst/>
          </a:prstGeom>
          <a:solidFill>
            <a:srgbClr val="FE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9616" y="4634147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E67E22"/>
                </a:solidFill>
                <a:latin typeface="Arial"/>
              </a:rPr>
              <a:t>Meta-Question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616" y="5003136"/>
            <a:ext cx="93731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1E293B"/>
                </a:solidFill>
                <a:latin typeface="Calibri"/>
              </a:rPr>
              <a:t>With minimal direction, can Nous autonomously answer this?</a:t>
            </a:r>
          </a:p>
          <a:p>
            <a:r>
              <a:rPr sz="1600" dirty="0">
                <a:solidFill>
                  <a:srgbClr val="1E293B"/>
                </a:solidFill>
                <a:latin typeface="Calibri"/>
              </a:rPr>
              <a:t>
If not — how explicit do we need to be, and at what point does it produce useful implementations?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355120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64748B"/>
                </a:solidFill>
                <a:latin typeface="Calibri"/>
              </a:rPr>
              <a:t>11 campaigns  ·  ~$139 total  ·  Opus for design, Sonnet for execute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2626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  <a:latin typeface="Georgia"/>
              </a:rPr>
              <a:t>The Question We Asked Nous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00000"/>
            <a:ext cx="5623560" cy="900000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730000"/>
            <a:ext cx="53035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D6FE0"/>
                </a:solidFill>
                <a:latin typeface="Arial"/>
              </a:rPr>
              <a:t>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000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 dirty="0">
                <a:solidFill>
                  <a:srgbClr val="1E293B"/>
                </a:solidFill>
                <a:latin typeface="Calibri"/>
              </a:rPr>
              <a:t>Pipelined bounce-buffer (SSD→CPU→GPU) transfers outperform direct SSD→GPU P2P DMA for 4 MiB objects at 128 KiB </a:t>
            </a:r>
            <a:r>
              <a:rPr sz="1400" i="1" dirty="0" err="1">
                <a:solidFill>
                  <a:srgbClr val="1E293B"/>
                </a:solidFill>
                <a:latin typeface="Calibri"/>
              </a:rPr>
              <a:t>NVMe</a:t>
            </a:r>
            <a:r>
              <a:rPr sz="1400" i="1" dirty="0">
                <a:solidFill>
                  <a:srgbClr val="1E293B"/>
                </a:solidFill>
                <a:latin typeface="Calibri"/>
              </a:rPr>
              <a:t> chunk size.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700000"/>
            <a:ext cx="5623560" cy="90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730000"/>
            <a:ext cx="53035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Arial"/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665" y="906008"/>
            <a:ext cx="5303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1E293B"/>
                </a:solidFill>
                <a:latin typeface="Calibri"/>
              </a:rPr>
              <a:t>—  Neither dispatcher v0 nor v1 has P2P or </a:t>
            </a:r>
            <a:r>
              <a:rPr lang="en-US" sz="1200" dirty="0">
                <a:solidFill>
                  <a:srgbClr val="1E293B"/>
                </a:solidFill>
                <a:latin typeface="Calibri"/>
              </a:rPr>
              <a:t>efficient</a:t>
            </a:r>
            <a:r>
              <a:rPr sz="1200" dirty="0">
                <a:solidFill>
                  <a:srgbClr val="1E293B"/>
                </a:solidFill>
                <a:latin typeface="Calibri"/>
              </a:rPr>
              <a:t> pipelining</a:t>
            </a:r>
          </a:p>
          <a:p>
            <a:r>
              <a:rPr sz="1200" dirty="0">
                <a:solidFill>
                  <a:srgbClr val="1E293B"/>
                </a:solidFill>
                <a:latin typeface="Calibri"/>
              </a:rPr>
              <a:t>—  Nous must discover this and implement what's missing</a:t>
            </a:r>
          </a:p>
          <a:p>
            <a:r>
              <a:rPr sz="1200" dirty="0">
                <a:solidFill>
                  <a:srgbClr val="1E293B"/>
                </a:solidFill>
                <a:latin typeface="Calibri"/>
              </a:rPr>
              <a:t>—  Full production stack: </a:t>
            </a:r>
            <a:r>
              <a:rPr sz="1200" dirty="0" err="1">
                <a:solidFill>
                  <a:srgbClr val="1E293B"/>
                </a:solidFill>
                <a:latin typeface="Calibri"/>
              </a:rPr>
              <a:t>certus</a:t>
            </a:r>
            <a:r>
              <a:rPr sz="1200" dirty="0">
                <a:solidFill>
                  <a:srgbClr val="1E293B"/>
                </a:solidFill>
                <a:latin typeface="Calibri"/>
              </a:rPr>
              <a:t>-server, SPDK, CUDA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50000"/>
            <a:ext cx="5623560" cy="2100000"/>
          </a:xfrm>
          <a:prstGeom prst="rect">
            <a:avLst/>
          </a:prstGeom>
          <a:solidFill>
            <a:srgbClr val="EBF3FE"/>
          </a:solidFill>
          <a:ln w="12700">
            <a:solidFill>
              <a:srgbClr val="1D6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780000"/>
            <a:ext cx="53035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D6FE0"/>
                </a:solidFill>
                <a:latin typeface="Arial"/>
              </a:rPr>
              <a:t>Path A — Pipelined Bounce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00" y="2080000"/>
            <a:ext cx="5400000" cy="1650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72200" y="1750000"/>
            <a:ext cx="5623560" cy="2100000"/>
          </a:xfrm>
          <a:prstGeom prst="rect">
            <a:avLst/>
          </a:prstGeom>
          <a:solidFill>
            <a:srgbClr val="FEF3E5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780000"/>
            <a:ext cx="53035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Arial"/>
              </a:rPr>
              <a:t>Path B — Direct P2P DMA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000" y="2080000"/>
            <a:ext cx="5400000" cy="1650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65760" y="3950000"/>
            <a:ext cx="11430000" cy="35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975000"/>
            <a:ext cx="110642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System:  AMD EPYC 7343  |  7× Intel DC NVMe (SPDK)  |  NVIDIA A30  |  512 MiB CUDA-pinned DRAM 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407326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E293B"/>
                </a:solidFill>
                <a:latin typeface="Georgia"/>
              </a:rPr>
              <a:t>What is in repo:</a:t>
            </a:r>
            <a:endParaRPr b="1" dirty="0">
              <a:solidFill>
                <a:srgbClr val="1E293B"/>
              </a:solidFill>
              <a:latin typeface="Georgi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4723087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64748B"/>
                </a:solidFill>
                <a:latin typeface="Calibri"/>
              </a:rPr>
              <a:t>—  </a:t>
            </a:r>
            <a:r>
              <a:rPr sz="1400" dirty="0" err="1">
                <a:solidFill>
                  <a:srgbClr val="64748B"/>
                </a:solidFill>
                <a:latin typeface="Calibri"/>
              </a:rPr>
              <a:t>certus</a:t>
            </a:r>
            <a:r>
              <a:rPr sz="1400" dirty="0">
                <a:solidFill>
                  <a:srgbClr val="64748B"/>
                </a:solidFill>
                <a:latin typeface="Calibri"/>
              </a:rPr>
              <a:t>-server — production binary (</a:t>
            </a:r>
            <a:r>
              <a:rPr sz="1400" dirty="0" err="1">
                <a:solidFill>
                  <a:srgbClr val="64748B"/>
                </a:solidFill>
                <a:latin typeface="Calibri"/>
              </a:rPr>
              <a:t>gRPC</a:t>
            </a:r>
            <a:r>
              <a:rPr sz="1400" dirty="0">
                <a:solidFill>
                  <a:srgbClr val="64748B"/>
                </a:solidFill>
                <a:latin typeface="Calibri"/>
              </a:rPr>
              <a:t> → dispatcher → </a:t>
            </a:r>
            <a:r>
              <a:rPr sz="1400" dirty="0" err="1">
                <a:solidFill>
                  <a:srgbClr val="64748B"/>
                </a:solidFill>
                <a:latin typeface="Calibri"/>
              </a:rPr>
              <a:t>NVMe</a:t>
            </a:r>
            <a:r>
              <a:rPr sz="1400" dirty="0">
                <a:solidFill>
                  <a:srgbClr val="64748B"/>
                </a:solidFill>
                <a:latin typeface="Calibri"/>
              </a:rPr>
              <a:t> → GPU)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55867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64748B"/>
                </a:solidFill>
                <a:latin typeface="Calibri"/>
              </a:rPr>
              <a:t>—  Dispatcher v0 — SSD→DRAM→GPU, single buffer, no pipelining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48433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64748B"/>
                </a:solidFill>
                <a:latin typeface="Calibri"/>
              </a:rPr>
              <a:t>—  Dispatcher v1</a:t>
            </a:r>
            <a:r>
              <a:rPr lang="en-US" sz="1400" dirty="0">
                <a:solidFill>
                  <a:srgbClr val="64748B"/>
                </a:solidFill>
                <a:latin typeface="Calibri"/>
              </a:rPr>
              <a:t> (Memory Tier)</a:t>
            </a:r>
            <a:r>
              <a:rPr sz="1400" dirty="0">
                <a:solidFill>
                  <a:srgbClr val="64748B"/>
                </a:solidFill>
                <a:latin typeface="Calibri"/>
              </a:rPr>
              <a:t> — ring of 4 DMA buffers</a:t>
            </a:r>
            <a:r>
              <a:rPr lang="en-US" sz="1400" dirty="0">
                <a:solidFill>
                  <a:srgbClr val="64748B"/>
                </a:solidFill>
                <a:latin typeface="Calibri"/>
              </a:rPr>
              <a:t> for pipelining (optimized version of v1)</a:t>
            </a:r>
            <a:endParaRPr sz="140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5628446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64748B"/>
                </a:solidFill>
                <a:latin typeface="Calibri"/>
              </a:rPr>
              <a:t>—  gpu-p2p-server — standalone </a:t>
            </a:r>
            <a:r>
              <a:rPr lang="en-US" sz="1400" dirty="0">
                <a:solidFill>
                  <a:srgbClr val="64748B"/>
                </a:solidFill>
                <a:latin typeface="Calibri"/>
              </a:rPr>
              <a:t>bounce/</a:t>
            </a:r>
            <a:r>
              <a:rPr sz="1400" dirty="0">
                <a:solidFill>
                  <a:srgbClr val="64748B"/>
                </a:solidFill>
                <a:latin typeface="Calibri"/>
              </a:rPr>
              <a:t>P2P</a:t>
            </a:r>
            <a:r>
              <a:rPr lang="en-US" sz="1400" dirty="0">
                <a:solidFill>
                  <a:srgbClr val="64748B"/>
                </a:solidFill>
                <a:latin typeface="Calibri"/>
              </a:rPr>
              <a:t>/P2P-cold</a:t>
            </a:r>
            <a:r>
              <a:rPr sz="1400" dirty="0">
                <a:solidFill>
                  <a:srgbClr val="64748B"/>
                </a:solidFill>
                <a:latin typeface="Calibri"/>
              </a:rPr>
              <a:t> test binary</a:t>
            </a:r>
            <a:r>
              <a:rPr lang="en-US" sz="1400" dirty="0">
                <a:solidFill>
                  <a:srgbClr val="64748B"/>
                </a:solidFill>
                <a:latin typeface="Calibri"/>
              </a:rPr>
              <a:t> but NO PIPELINING (</a:t>
            </a:r>
            <a:r>
              <a:rPr lang="en-US" sz="1400" dirty="0" err="1">
                <a:solidFill>
                  <a:srgbClr val="64748B"/>
                </a:solidFill>
                <a:latin typeface="Calibri"/>
              </a:rPr>
              <a:t>Bypassess</a:t>
            </a:r>
            <a:r>
              <a:rPr lang="en-US" sz="1400" dirty="0">
                <a:solidFill>
                  <a:srgbClr val="64748B"/>
                </a:solidFill>
                <a:latin typeface="Calibri"/>
              </a:rPr>
              <a:t> entire dispatcher stack).</a:t>
            </a:r>
            <a:endParaRPr sz="140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5929652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64748B"/>
                </a:solidFill>
                <a:latin typeface="Calibri"/>
              </a:rPr>
              <a:t>— </a:t>
            </a:r>
            <a:r>
              <a:rPr lang="en-US" sz="1400" dirty="0" err="1">
                <a:solidFill>
                  <a:srgbClr val="64748B"/>
                </a:solidFill>
                <a:latin typeface="Calibri"/>
              </a:rPr>
              <a:t>test_client.py</a:t>
            </a:r>
            <a:r>
              <a:rPr lang="en-US" sz="1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1400" dirty="0">
                <a:solidFill>
                  <a:srgbClr val="64748B"/>
                </a:solidFill>
              </a:rPr>
              <a:t>— </a:t>
            </a:r>
            <a:r>
              <a:rPr lang="en-US" sz="1400" dirty="0" err="1">
                <a:solidFill>
                  <a:srgbClr val="64748B"/>
                </a:solidFill>
              </a:rPr>
              <a:t>gRPC</a:t>
            </a:r>
            <a:r>
              <a:rPr lang="en-US" sz="1400" dirty="0">
                <a:solidFill>
                  <a:srgbClr val="64748B"/>
                </a:solidFill>
              </a:rPr>
              <a:t> benchmark for client-server. Reports latency and throughput (Through dispatcher) </a:t>
            </a:r>
            <a:r>
              <a:rPr lang="en-US" sz="1400" dirty="0">
                <a:solidFill>
                  <a:srgbClr val="64748B"/>
                </a:solidFill>
                <a:latin typeface="Calibri"/>
              </a:rPr>
              <a:t> </a:t>
            </a:r>
            <a:endParaRPr sz="140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4320" y="6260001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64748B"/>
                </a:solidFill>
                <a:latin typeface="Calibri"/>
              </a:rPr>
              <a:t>—  QD (queue depth) — </a:t>
            </a:r>
            <a:r>
              <a:rPr sz="1400" dirty="0" err="1">
                <a:solidFill>
                  <a:srgbClr val="64748B"/>
                </a:solidFill>
                <a:latin typeface="Calibri"/>
              </a:rPr>
              <a:t>NVMe</a:t>
            </a:r>
            <a:r>
              <a:rPr sz="1400" dirty="0">
                <a:solidFill>
                  <a:srgbClr val="64748B"/>
                </a:solidFill>
                <a:latin typeface="Calibri"/>
              </a:rPr>
              <a:t> reads in-flight simultaneously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81730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More Direction = Better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852" y="60214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B7280"/>
                </a:solidFill>
              </a:rPr>
              <a:t>10 campaigns · ~$124 · Each row adds one constraint</a:t>
            </a:r>
            <a:r>
              <a:rPr lang="en-US" sz="1400" b="0" i="0" dirty="0">
                <a:solidFill>
                  <a:srgbClr val="6B7280"/>
                </a:solidFill>
              </a:rPr>
              <a:t>/direction</a:t>
            </a:r>
            <a:r>
              <a:rPr sz="1400" b="0" i="0" dirty="0">
                <a:solidFill>
                  <a:srgbClr val="6B7280"/>
                </a:solidFill>
              </a:rPr>
              <a:t> — watch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40311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" y="1100251"/>
            <a:ext cx="1298448" cy="19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Campaign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1" y="1100251"/>
            <a:ext cx="3840480" cy="19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What Nous 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100251"/>
            <a:ext cx="1938528" cy="19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Measured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63256" y="1100251"/>
            <a:ext cx="1170432" cy="19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Verdict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98676"/>
            <a:ext cx="164592" cy="1454627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1298676"/>
            <a:ext cx="11475719" cy="41989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" y="1327023"/>
            <a:ext cx="5029200" cy="179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No system constraint  ·  3 runs  ·  ~$35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1504188"/>
            <a:ext cx="5029200" cy="164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Implemented: New modes in gpu-p2p-server: bounce-pipeline (cudaHostAlloc + CUDA stream), p2p-seq, bounce-seq.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0136" y="1355369"/>
            <a:ext cx="6163055" cy="32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Nous found gpu-p2p-server — easiest binary in the repo. Results invalid.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1695525"/>
            <a:ext cx="11475719" cy="3374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" y="1723871"/>
            <a:ext cx="129844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h8-transfer-path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6231" y="1723871"/>
            <a:ext cx="3840480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Ran existing bounce/P2P/cold modes in gpu-p2p-server.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723871"/>
            <a:ext cx="193852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P2P 2× faster (isolation)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256" y="1723871"/>
            <a:ext cx="34182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DC2626"/>
                </a:solidFill>
              </a:rPr>
              <a:t>Wrong </a:t>
            </a:r>
            <a:r>
              <a:rPr lang="en-US" sz="900" b="1" dirty="0">
                <a:solidFill>
                  <a:srgbClr val="DC2626"/>
                </a:solidFill>
              </a:rPr>
              <a:t>binary (Hypothesis not aligned: No pipeline)</a:t>
            </a:r>
            <a:endParaRPr sz="900" b="1" i="0" dirty="0">
              <a:solidFill>
                <a:srgbClr val="DC2626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38912" y="2021509"/>
            <a:ext cx="11475719" cy="337413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" y="2049856"/>
            <a:ext cx="129844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h8-pipelined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56231" y="2049856"/>
            <a:ext cx="3840480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New bounce-pipeline: double-buffered ReadAsync + cudaMemcpyAsync.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2049856"/>
            <a:ext cx="193852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Pipeline 2.4–3× over seq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5" y="2049856"/>
            <a:ext cx="302070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 dirty="0">
                <a:solidFill>
                  <a:srgbClr val="DC2626"/>
                </a:solidFill>
              </a:rPr>
              <a:t>Wrong binary</a:t>
            </a:r>
            <a:r>
              <a:rPr lang="en-US" sz="900" b="1" i="0" dirty="0">
                <a:solidFill>
                  <a:srgbClr val="DC2626"/>
                </a:solidFill>
              </a:rPr>
              <a:t> </a:t>
            </a:r>
            <a:r>
              <a:rPr lang="en-US" sz="900" b="1" dirty="0">
                <a:solidFill>
                  <a:srgbClr val="DC2626"/>
                </a:solidFill>
              </a:rPr>
              <a:t>(Hypothesis not aligned: No pipeline)</a:t>
            </a:r>
            <a:endParaRPr sz="900" b="1" i="0" dirty="0">
              <a:solidFill>
                <a:srgbClr val="DC2626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8912" y="2347493"/>
            <a:ext cx="11475719" cy="3374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" y="2375839"/>
            <a:ext cx="129844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h8-dispatcher-p2p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56231" y="2375839"/>
            <a:ext cx="3840480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New p2p-seq / bounce-seq modes in gpu-p2p-server.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375839"/>
            <a:ext cx="193852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P2P-seq 1.47× faster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63256" y="2375839"/>
            <a:ext cx="28716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 dirty="0">
                <a:solidFill>
                  <a:srgbClr val="DC2626"/>
                </a:solidFill>
              </a:rPr>
              <a:t>Wrong binary</a:t>
            </a:r>
            <a:r>
              <a:rPr lang="en-US" sz="900" b="1" i="0" dirty="0">
                <a:solidFill>
                  <a:srgbClr val="DC2626"/>
                </a:solidFill>
              </a:rPr>
              <a:t> </a:t>
            </a:r>
            <a:r>
              <a:rPr lang="en-US" sz="900" b="1" dirty="0">
                <a:solidFill>
                  <a:srgbClr val="DC2626"/>
                </a:solidFill>
              </a:rPr>
              <a:t>(Hypothesis not aligned: No pipeline)</a:t>
            </a:r>
            <a:endParaRPr sz="900" b="1" i="0" dirty="0">
              <a:solidFill>
                <a:srgbClr val="DC2626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74320" y="2708909"/>
            <a:ext cx="164592" cy="1109715"/>
          </a:xfrm>
          <a:prstGeom prst="rect">
            <a:avLst/>
          </a:prstGeom>
          <a:solidFill>
            <a:srgbClr val="D97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8912" y="2708909"/>
            <a:ext cx="11475719" cy="419892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3776" y="2737255"/>
            <a:ext cx="5029200" cy="179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406"/>
                </a:solidFill>
              </a:rPr>
              <a:t>+ Must use certus-server  ·  2 runs  ·  ~$24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" y="2914420"/>
            <a:ext cx="5029200" cy="164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Implemented: P2P path in dispatcher v0 and v1. Per-request cudaHostRegister + spdk_mem_register on each call.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0136" y="2765602"/>
            <a:ext cx="6163055" cy="32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Cold pinning (5–9 ms/call) negates DMA savings.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3105758"/>
            <a:ext cx="11475719" cy="3374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3776" y="3134105"/>
            <a:ext cx="129844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h8-v0-vs-p2p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56231" y="3134105"/>
            <a:ext cx="3840480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P2P read path in dispatcher v0 (323-line patch, 4 files).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134105"/>
            <a:ext cx="193852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Bounce 13.8ms · P2P 18.4ms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63256" y="3134105"/>
            <a:ext cx="1170432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406"/>
                </a:solidFill>
              </a:rPr>
              <a:t>Bounce 1.33×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" y="3431742"/>
            <a:ext cx="11475719" cy="337413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3776" y="3460088"/>
            <a:ext cx="129844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h8-v1-vs-p2p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56231" y="3460088"/>
            <a:ext cx="3840480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P2P read path in dispatcher v1 (6 files).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3460088"/>
            <a:ext cx="193852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Bounce 13.0ms · P2P 15.3ms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63256" y="3460088"/>
            <a:ext cx="1170432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406"/>
                </a:solidFill>
              </a:rPr>
              <a:t>Bounce 1.18×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793159"/>
            <a:ext cx="164592" cy="11097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38912" y="3793159"/>
            <a:ext cx="11475719" cy="4198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3776" y="3821505"/>
            <a:ext cx="5029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2563EB"/>
                </a:solidFill>
              </a:rPr>
              <a:t>+ Pre-pin </a:t>
            </a:r>
            <a:r>
              <a:rPr lang="en-US" sz="1000" b="1" i="0" dirty="0">
                <a:solidFill>
                  <a:srgbClr val="2563EB"/>
                </a:solidFill>
              </a:rPr>
              <a:t>GPU </a:t>
            </a:r>
            <a:r>
              <a:rPr sz="1000" b="1" i="0" dirty="0">
                <a:solidFill>
                  <a:srgbClr val="2563EB"/>
                </a:solidFill>
              </a:rPr>
              <a:t>memory  ·  2 runs  ·  ~$26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" y="3998670"/>
            <a:ext cx="5029200" cy="164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1A1A2E"/>
                </a:solidFill>
              </a:rPr>
              <a:t>Implemented: GPU buffer cache with one-time registration. Autonomously read prior .nous/ findings to design fix.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0136" y="3849851"/>
            <a:ext cx="6163055" cy="32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Opus read prior .nous/ results autonomously — cross-campaign learning.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" y="4190008"/>
            <a:ext cx="11475719" cy="3374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3776" y="4218355"/>
            <a:ext cx="129844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h8-v0-pinned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56231" y="4218355"/>
            <a:ext cx="3840480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Interface change cascaded to 12 files — never compiled.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4218355"/>
            <a:ext cx="193852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No data (240 turns, budget exhausted)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63256" y="4218355"/>
            <a:ext cx="1170432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No 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" y="4515992"/>
            <a:ext cx="11475719" cy="337413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93776" y="4544338"/>
            <a:ext cx="129844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h8-v1-pinned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56231" y="4544338"/>
            <a:ext cx="3840480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GPU buffer cache in v1 — register once, reuse across lookups.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0720" y="4544338"/>
            <a:ext cx="193852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P2P 9.3ms · Bounce 18.8ms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63256" y="4544338"/>
            <a:ext cx="1170432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P2P 2.02×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877408"/>
            <a:ext cx="164592" cy="1454627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38912" y="4877408"/>
            <a:ext cx="11475719" cy="41989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93776" y="4905755"/>
            <a:ext cx="5029200" cy="179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+ True pipelining / target reference  ·  3 runs  ·  ~$38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3776" y="5082920"/>
            <a:ext cx="5029200" cy="164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Implemented: Double-buffered cudaHostAlloc pipeline (v0); cudaHostAlloc + cudaMemcpyAsync (v1); parallel ReadAsync QD=2 + 2 CUDA streams.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0136" y="4934101"/>
            <a:ext cx="6163055" cy="32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Hypothesis answered. $3 run matched $35 result — reference input is 10–40× cheaper.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912" y="5274258"/>
            <a:ext cx="11475719" cy="3374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93776" y="5302604"/>
            <a:ext cx="129844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h8-evolve-v0-pipeline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56231" y="5302604"/>
            <a:ext cx="3840480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Double-buffered cudaHostAlloc + cudaMemcpyAsync on CUDA stream.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60720" y="5302604"/>
            <a:ext cx="193852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Bounce 9.7ms · P2P 20.1ms (cold)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63256" y="5302604"/>
            <a:ext cx="1170432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</a:rPr>
              <a:t>Bounce ≈ P2P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8912" y="5600242"/>
            <a:ext cx="11475719" cy="337413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3776" y="5628588"/>
            <a:ext cx="129844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h8-v1-true-pipeline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56231" y="5628588"/>
            <a:ext cx="3840480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cudaHostAlloc pipeline in v1. NVMe dominates 10–100×.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60720" y="5628588"/>
            <a:ext cx="193852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0–10% gain (within noise)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63256" y="5628588"/>
            <a:ext cx="1170432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406"/>
                </a:solidFill>
              </a:rPr>
              <a:t>Refuted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8912" y="5926225"/>
            <a:ext cx="11475719" cy="3374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93776" y="5954572"/>
            <a:ext cx="129844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h8-v1-optimized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56231" y="5954572"/>
            <a:ext cx="3840480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Parallel ReadAsync QD=2 + 2 CUDA streams (reference pattern).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60720" y="5954572"/>
            <a:ext cx="1938528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15.4ms → 7.9ms (~2×)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63256" y="5954572"/>
            <a:ext cx="1170432" cy="27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</a:rPr>
              <a:t>Confirmed 2×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6301815"/>
            <a:ext cx="11640311" cy="314919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11479" y="6337249"/>
            <a:ext cx="11457432" cy="239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Final: Bounce ≈ P2P (9.3 ms vs 9.7 ms) when both properly implemented.  What Nous missed: dispatcher at ~300 MB/s — hardware ceiling 3,200 MB/s. 10x gap never flagged.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430000" y="5274259"/>
            <a:ext cx="731520" cy="224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The Real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B7280"/>
                </a:solidFill>
              </a:rPr>
              <a:t>Nous showed bounce ≈ P2P — but throughput was terrible. We built </a:t>
            </a:r>
            <a:r>
              <a:rPr lang="en-US" sz="1400" dirty="0">
                <a:solidFill>
                  <a:srgbClr val="6B7280"/>
                </a:solidFill>
              </a:rPr>
              <a:t>other</a:t>
            </a:r>
            <a:r>
              <a:rPr sz="1400" b="0" i="0" dirty="0">
                <a:solidFill>
                  <a:srgbClr val="6B7280"/>
                </a:solidFill>
              </a:rPr>
              <a:t> benchmarks to find exactly where the gap was.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696157"/>
              </p:ext>
            </p:extLst>
          </p:nvPr>
        </p:nvGraphicFramePr>
        <p:xfrm>
          <a:off x="365760" y="1296060"/>
          <a:ext cx="1142999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9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3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Benchmark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measures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Throughput (16 MiB)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</a:rPr>
                        <a:t>gpu-bb-vs-p2p (bounce)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</a:rPr>
                        <a:t>Hardware ceiling — NVMe read + GPU DMA, no server, no gRPC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A34A"/>
                          </a:solidFill>
                        </a:rPr>
                        <a:t>3,258 MB/s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</a:rPr>
                        <a:t>gpu-bb-vs-p2p (P2P)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</a:rPr>
                        <a:t>Same via GDRCopy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A34A"/>
                          </a:solidFill>
                        </a:rPr>
                        <a:t>3,072 MB/s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</a:rPr>
                        <a:t>dispatcher_hw_benchmark warm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</a:rPr>
                        <a:t>DRAM → GPU, no SSD (memory-tier hit)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A34A"/>
                          </a:solidFill>
                        </a:rPr>
                        <a:t>3,145 MB/s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</a:rPr>
                        <a:t>dispatcher_hw_benchmark cold QD=16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</a:rPr>
                        <a:t>Dispatcher pipeline as-shipped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C2626"/>
                          </a:solidFill>
                        </a:rPr>
                        <a:t>886 MB/s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</a:rPr>
                        <a:t>certus-server via test_client.py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Full stack </a:t>
                      </a:r>
                      <a:r>
                        <a:rPr lang="en-US" sz="1200" b="0" dirty="0">
                          <a:solidFill>
                            <a:srgbClr val="1A1A2E"/>
                          </a:solidFill>
                        </a:rPr>
                        <a:t>– (System overhead)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DC2626"/>
                          </a:solidFill>
                        </a:rPr>
                        <a:t>~300 MB/s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4111880"/>
            <a:ext cx="5440680" cy="960119"/>
          </a:xfrm>
          <a:prstGeom prst="rect">
            <a:avLst/>
          </a:prstGeom>
          <a:solidFill>
            <a:srgbClr val="FFF0F0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5780" y="43737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DC2626"/>
                </a:solidFill>
              </a:rPr>
              <a:t>The gap: 886 vs 3,258 MB/s = 3.7× below hardware ceiling.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Campaign 11 — Nous on the Remaining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61026"/>
            <a:ext cx="11247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/>
              <a:t>$14.60 · </a:t>
            </a:r>
            <a:r>
              <a:rPr lang="en-US" sz="1600" b="0" i="0" dirty="0"/>
              <a:t>Goal: Optimize dispatcher v1. Additional constraint to nou: </a:t>
            </a:r>
            <a:r>
              <a:rPr sz="1600" b="0" i="0" dirty="0"/>
              <a:t>"Match gpu-bb-vs-p2p throughput</a:t>
            </a:r>
            <a:r>
              <a:rPr lang="en-US" sz="1600" b="0" i="0" dirty="0"/>
              <a:t> as for reference point</a:t>
            </a:r>
            <a:r>
              <a:rPr sz="1600" b="0" i="0" dirty="0"/>
              <a:t>"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091838"/>
              </p:ext>
            </p:extLst>
          </p:nvPr>
        </p:nvGraphicFramePr>
        <p:xfrm>
          <a:off x="365759" y="1385800"/>
          <a:ext cx="11429998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0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Iteration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Nous tried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</a:rPr>
                        <a:t>Iter-1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</a:rPr>
                        <a:t>Lock-free GPU state flag, QD=32 (rediscovered), batch sync every 32, pre-alloc buffers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D97406"/>
                          </a:solidFill>
                        </a:rPr>
                        <a:t>+8.9% one run, high variance. No real improvement.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</a:rPr>
                        <a:t>Iter-2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</a:rPr>
                        <a:t>All NVMe reads on single deep queue + deferred GPU DMA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DC2626"/>
                          </a:solidFill>
                        </a:rPr>
                        <a:t>29% regression at 16 MiB.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59" y="3143200"/>
            <a:ext cx="5498327" cy="1997963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88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</a:rPr>
              <a:t>Nous's 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39" y="3554680"/>
            <a:ext cx="49675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A1A2E"/>
                </a:solidFill>
              </a:rPr>
              <a:t>Pool eviction variance dominates measurement.
Optimized pipeline-level code in </a:t>
            </a:r>
            <a:r>
              <a:rPr sz="1600" b="0" i="0" dirty="0" err="1">
                <a:solidFill>
                  <a:srgbClr val="1A1A2E"/>
                </a:solidFill>
              </a:rPr>
              <a:t>pipeline.rs</a:t>
            </a:r>
            <a:r>
              <a:rPr sz="1600" b="0" i="0" dirty="0">
                <a:solidFill>
                  <a:srgbClr val="1A1A2E"/>
                </a:solidFill>
              </a:rPr>
              <a:t>.
Couldn't see past the single file</a:t>
            </a:r>
            <a:r>
              <a:rPr lang="en-US" sz="1600" b="0" i="0" dirty="0">
                <a:solidFill>
                  <a:srgbClr val="1A1A2E"/>
                </a:solidFill>
              </a:rPr>
              <a:t>?</a:t>
            </a:r>
            <a:endParaRPr sz="1600" b="0" i="0" dirty="0">
              <a:solidFill>
                <a:srgbClr val="1A1A2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4412" y="3143200"/>
            <a:ext cx="5655628" cy="1997963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4412" y="3127297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6A34A"/>
                </a:solidFill>
              </a:rPr>
              <a:t>Interesting finding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1896" y="3554680"/>
            <a:ext cx="53909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A1A2E"/>
                </a:solidFill>
              </a:rPr>
              <a:t>Nous discovered different </a:t>
            </a:r>
            <a:r>
              <a:rPr sz="1600" b="0" i="0" dirty="0" err="1">
                <a:solidFill>
                  <a:srgbClr val="1A1A2E"/>
                </a:solidFill>
              </a:rPr>
              <a:t>NVMe</a:t>
            </a:r>
            <a:r>
              <a:rPr sz="1600" b="0" i="0" dirty="0">
                <a:solidFill>
                  <a:srgbClr val="1A1A2E"/>
                </a:solidFill>
              </a:rPr>
              <a:t> queue routing at 128 KiB batch size gives 3.6× speedup — a discovery worth investigating.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63440"/>
            <a:ext cx="11430000" cy="54864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5309160"/>
            <a:ext cx="11064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A1A2E"/>
                </a:solidFill>
              </a:rPr>
              <a:t>The pattern: Nous optimizes what it can see in one file. The remaining gap likely lives in system topology invisible from a single file.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What Nous Got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180494"/>
              </p:ext>
            </p:extLst>
          </p:nvPr>
        </p:nvGraphicFramePr>
        <p:xfrm>
          <a:off x="365760" y="859536"/>
          <a:ext cx="11429999" cy="4809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1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3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5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21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Failure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Fix difficulty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21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</a:rPr>
                        <a:t>Accepted impossible result (SSD faster than DRAM)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</a:rPr>
                        <a:t>Reported CONFIRMED on physically invalid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A34A"/>
                          </a:solidFill>
                        </a:rPr>
                        <a:t>Easy — validation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21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</a:rPr>
                        <a:t>Used wrong binary for 4 runs (gpu-p2p-server not certus-server)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</a:rPr>
                        <a:t>$35 wasted on irrelevant measurements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A34A"/>
                          </a:solidFill>
                        </a:rPr>
                        <a:t>Easy — constraints field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21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</a:rPr>
                        <a:t>Deepened the winning path instead of strengthening the loser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</a:rPr>
                        <a:t>Bounce with true pipelining ties P2P (9.7ms vs 9.3ms) — Nous nearly reached the wrong conclusion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D97406"/>
                          </a:solidFill>
                        </a:rPr>
                        <a:t>Medium — A/B discipline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21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</a:rPr>
                        <a:t>Misattributed 2× gain (said async overlap, was buffer pre-alloc)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</a:rPr>
                        <a:t>Wrong conclusion in experiment findings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D97406"/>
                          </a:solidFill>
                        </a:rPr>
                        <a:t>Medium — ablation enforcement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21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</a:rPr>
                        <a:t>Never noticed pipeline code is actually sequential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</a:rPr>
                        <a:t>Missed core code bug across 7 campaigns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DC2626"/>
                          </a:solidFill>
                        </a:rPr>
                        <a:t>Hard — deep code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121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</a:rPr>
                        <a:t>Never flagged 10× gap between system and hardware ceiling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</a:rPr>
                        <a:t>Missed the real performance problem entirely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DC2626"/>
                          </a:solidFill>
                        </a:rPr>
                        <a:t>Hard — layered benchmarking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1218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A1A2E"/>
                          </a:solidFill>
                        </a:rPr>
                        <a:t>Iter-2 abandoned working iter-1 without understanding why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</a:rPr>
                        <a:t>Wasted iteration, lost compounding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DC2626"/>
                          </a:solidFill>
                        </a:rPr>
                        <a:t>Hard — experimental discipline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5812005"/>
            <a:ext cx="11430000" cy="621792"/>
          </a:xfrm>
          <a:prstGeom prst="rect">
            <a:avLst/>
          </a:prstGeom>
          <a:solidFill>
            <a:srgbClr val="FFF0F0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065" y="5969012"/>
            <a:ext cx="11064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Pattern: Nous answers the question you ask. It doesn't ask "is this the right question?" or "is there a bigger problem here?"</a:t>
            </a:r>
            <a:endParaRPr lang="en-US" sz="1400" b="0" i="0" dirty="0">
              <a:solidFill>
                <a:srgbClr val="1A1A2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1247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  <a:latin typeface="Georgia"/>
              </a:rPr>
              <a:t>Recommendations &amp; Ideas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58598"/>
            <a:ext cx="5760720" cy="280000"/>
          </a:xfrm>
          <a:prstGeom prst="rect">
            <a:avLst/>
          </a:prstGeom>
          <a:solidFill>
            <a:srgbClr val="1D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420000" y="1173598"/>
            <a:ext cx="55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For the Nous 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78598"/>
            <a:ext cx="5760720" cy="4600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10000" y="1503598"/>
            <a:ext cx="5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rial"/>
              </a:rPr>
              <a:t>1. Constraints field in campaign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000" y="1718598"/>
            <a:ext cx="55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must_use_binary, max_files_modified, must_not_modify — hard rules validated before execution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53598"/>
            <a:ext cx="5760720" cy="4600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410000" y="1978598"/>
            <a:ext cx="5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rial"/>
              </a:rPr>
              <a:t>2. Weight keywords in hypothesis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000" y="2193598"/>
            <a:ext cx="55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Flag if experiment doesn't address them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28598"/>
            <a:ext cx="5760720" cy="4600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10000" y="2453598"/>
            <a:ext cx="5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rial"/>
              </a:rPr>
              <a:t>3. Hypothesis-to-experiment alignment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000" y="2668598"/>
            <a:ext cx="55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Reject bundle if it doesn't test what's stated — 4/11 campaigns tested a different question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03598"/>
            <a:ext cx="5760720" cy="4600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410000" y="2928598"/>
            <a:ext cx="5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rial"/>
              </a:rPr>
              <a:t>4. Blast radius estimation before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000" y="3143598"/>
            <a:ext cx="55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Enumerate files that must change; if &gt;5 → flag for human. Prevented campaign 6's $14 blowout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78598"/>
            <a:ext cx="5760720" cy="4600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410000" y="3403598"/>
            <a:ext cx="5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rial"/>
              </a:rPr>
              <a:t>5. Profiling-first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000" y="3618598"/>
            <a:ext cx="55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Run perf/flamegraph BEFORE experiment design — campaign 11 optimized pipeline.rs when bottleneck was actor scheduling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53598"/>
            <a:ext cx="5760720" cy="4600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410000" y="3878598"/>
            <a:ext cx="5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rial"/>
              </a:rPr>
              <a:t>6. "Zoom out" checkpoint after iter-1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000" y="4093598"/>
            <a:ext cx="55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"Is bottleneck local (this file) or systemic (topology)?" — breaks tunnel vision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328598"/>
            <a:ext cx="5760720" cy="4600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410000" y="4353598"/>
            <a:ext cx="5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rial"/>
              </a:rPr>
              <a:t>7. Iter-2 must explain iter-1 before changing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0000" y="4568598"/>
            <a:ext cx="55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If iter-1 gained, ablate the mechanism first. Campaign 8: lost 2× gain by switching to BatchSubmit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03598"/>
            <a:ext cx="5760720" cy="4600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410000" y="4828598"/>
            <a:ext cx="5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rial"/>
              </a:rPr>
              <a:t>8. Ensure A/B parity before concluding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0000" y="5043598"/>
            <a:ext cx="55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Both arms must have their best implementation. Pre-pinned P2P vs cold bounce is not a valid 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1158598"/>
            <a:ext cx="5760720" cy="28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6310000" y="1173598"/>
            <a:ext cx="55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For how we structure campaigns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1478598"/>
            <a:ext cx="5760720" cy="4600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TextBox 36"/>
          <p:cNvSpPr txBox="1"/>
          <p:nvPr/>
        </p:nvSpPr>
        <p:spPr>
          <a:xfrm>
            <a:off x="6310000" y="1503598"/>
            <a:ext cx="5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rial"/>
              </a:rPr>
              <a:t>1. Sanity-check gate on results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0000" y="1718598"/>
            <a:ext cx="55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SSD &lt; DRAM? Throughput &gt; PCIe max? → flag IMPOSSIBLE. Would have caught false CONFIRMED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1953598"/>
            <a:ext cx="5760720" cy="4600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0" name="TextBox 39"/>
          <p:cNvSpPr txBox="1"/>
          <p:nvPr/>
        </p:nvSpPr>
        <p:spPr>
          <a:xfrm>
            <a:off x="6310000" y="1978598"/>
            <a:ext cx="5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rial"/>
              </a:rPr>
              <a:t>2. Hardware ceiling comparison before optimizing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0000" y="2193598"/>
            <a:ext cx="55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If system &lt; hardware / 3 → flag "system overhead dominates, optimization may be at wrong level"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2428598"/>
            <a:ext cx="5760720" cy="4600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3" name="TextBox 42"/>
          <p:cNvSpPr txBox="1"/>
          <p:nvPr/>
        </p:nvSpPr>
        <p:spPr>
          <a:xfrm>
            <a:off x="6310000" y="2453598"/>
            <a:ext cx="5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rial"/>
              </a:rPr>
              <a:t>3. Reference implementation as default input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0000" y="2668598"/>
            <a:ext cx="55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Campaign 10: $3 vs $35 for same insight (10–40×). Always include working example; if none, write 50–100 line version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2903598"/>
            <a:ext cx="5760720" cy="4600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6" name="TextBox 45"/>
          <p:cNvSpPr txBox="1"/>
          <p:nvPr/>
        </p:nvSpPr>
        <p:spPr>
          <a:xfrm>
            <a:off x="6310000" y="2928598"/>
            <a:ext cx="5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rial"/>
              </a:rPr>
              <a:t>4. Write reference / target performance first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10000" y="3143598"/>
            <a:ext cx="55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Concrete number to match is far cheaper than describing strategy. Eliminates design search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3378598"/>
            <a:ext cx="5760720" cy="4600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9" name="TextBox 48"/>
          <p:cNvSpPr txBox="1"/>
          <p:nvPr/>
        </p:nvSpPr>
        <p:spPr>
          <a:xfrm>
            <a:off x="6310000" y="3403598"/>
            <a:ext cx="5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E293B"/>
                </a:solidFill>
                <a:latin typeface="Arial"/>
              </a:rPr>
              <a:t>5. Architecture map as campaign input</a:t>
            </a:r>
            <a:r>
              <a:rPr lang="en-US" sz="1200" b="1" dirty="0">
                <a:solidFill>
                  <a:srgbClr val="1E293B"/>
                </a:solidFill>
                <a:latin typeface="Arial"/>
              </a:rPr>
              <a:t> (Certus knowledge base)</a:t>
            </a:r>
            <a:endParaRPr sz="1200" b="1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310000" y="3618598"/>
            <a:ext cx="55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Component + thread model + data flow. Campaign 11: Nous couldn't reason about actor/channel topology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853598"/>
            <a:ext cx="5760720" cy="4600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2" name="TextBox 51"/>
          <p:cNvSpPr txBox="1"/>
          <p:nvPr/>
        </p:nvSpPr>
        <p:spPr>
          <a:xfrm>
            <a:off x="6310000" y="3878598"/>
            <a:ext cx="5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rial"/>
              </a:rPr>
              <a:t>6. Attach flamegraph as campaign input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10000" y="4093598"/>
            <a:ext cx="55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Eliminates wrong-bottleneck failures — workaround until Nous can profile natively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4328598"/>
            <a:ext cx="5760720" cy="4600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5" name="TextBox 54"/>
          <p:cNvSpPr txBox="1"/>
          <p:nvPr/>
        </p:nvSpPr>
        <p:spPr>
          <a:xfrm>
            <a:off x="6310000" y="4353598"/>
            <a:ext cx="5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rial"/>
              </a:rPr>
              <a:t>7. Declare architecture explicitly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10000" y="4568598"/>
            <a:ext cx="55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"6 NVMe drives on 1 thread, message-passing between components" — context Nous can't discover from code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2200" y="4803598"/>
            <a:ext cx="5760720" cy="4600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8" name="TextBox 57"/>
          <p:cNvSpPr txBox="1"/>
          <p:nvPr/>
        </p:nvSpPr>
        <p:spPr>
          <a:xfrm>
            <a:off x="6310000" y="4828598"/>
            <a:ext cx="5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rial"/>
              </a:rPr>
              <a:t>8. Split diagnosis vs implementation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10000" y="5043598"/>
            <a:ext cx="55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Campaign A: "what's the bottleneck?" Campaign B: "fix this specific thing" — matches Nous's strengths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6000000"/>
            <a:ext cx="11640000" cy="320000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0000" y="6010000"/>
            <a:ext cx="1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6FE0"/>
                </a:solidFill>
                <a:latin typeface="Calibri"/>
              </a:rPr>
              <a:t>Savings estimate: sanity gates + constraints alone would have saved ~$49 (35% of total spend). Reference impl input = proven 10–40× cost reduction.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D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E293B"/>
                </a:solidFill>
                <a:latin typeface="Georgia"/>
              </a:rPr>
              <a:t>Nous assessment on Hypothesis-8</a:t>
            </a:r>
            <a:endParaRPr sz="2800" b="1" dirty="0">
              <a:solidFill>
                <a:srgbClr val="1E293B"/>
              </a:solidFill>
              <a:latin typeface="Georgia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3064" y="935420"/>
            <a:ext cx="10222383" cy="2980169"/>
          </a:xfrm>
          <a:prstGeom prst="rect">
            <a:avLst/>
          </a:prstGeom>
          <a:solidFill>
            <a:srgbClr val="EBF3FE"/>
          </a:solidFill>
          <a:ln w="12700">
            <a:solidFill>
              <a:srgbClr val="1D6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57200" y="975509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6A34A"/>
                </a:solidFill>
                <a:latin typeface="Arial"/>
              </a:rPr>
              <a:t>Nous is g</a:t>
            </a:r>
            <a:r>
              <a:rPr b="1" dirty="0">
                <a:solidFill>
                  <a:srgbClr val="16A34A"/>
                </a:solidFill>
                <a:latin typeface="Arial"/>
              </a:rPr>
              <a:t>ood for</a:t>
            </a:r>
            <a:r>
              <a:rPr lang="en-US" b="1" dirty="0">
                <a:solidFill>
                  <a:srgbClr val="16A34A"/>
                </a:solidFill>
                <a:latin typeface="Arial"/>
              </a:rPr>
              <a:t>:</a:t>
            </a:r>
            <a:endParaRPr b="1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93064" y="4259131"/>
            <a:ext cx="10222384" cy="2297597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3065" y="4291982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DC2626"/>
                </a:solidFill>
                <a:latin typeface="Arial"/>
              </a:rPr>
              <a:t>Not good for (today)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Calibri"/>
              </a:rPr>
              <a:t>8 / 8</a:t>
            </a:r>
          </a:p>
        </p:txBody>
      </p:sp>
      <p:sp>
        <p:nvSpPr>
          <p:cNvPr id="41" name="Rectangle 1">
            <a:extLst>
              <a:ext uri="{FF2B5EF4-FFF2-40B4-BE49-F238E27FC236}">
                <a16:creationId xmlns:a16="http://schemas.microsoft.com/office/drawing/2014/main" id="{5044F0DD-815E-756E-964E-A9D052E48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50074"/>
            <a:ext cx="7782515" cy="281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j-lt"/>
              </a:rPr>
              <a:t>Confirming/refuting specific hypotheses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j-lt"/>
              </a:rPr>
              <a:t>Finding CUDA/SPDK integration issues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j-lt"/>
              </a:rPr>
              <a:t>Cross-campaign learning — reads prior .nous/ results, compounds knowledge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j-lt"/>
              </a:rPr>
              <a:t>Novel discoveries (cold-pinning cost, queue routing speedup at 128 KiB)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j-lt"/>
              </a:rPr>
              <a:t>Adapting to a target performance baseline cheaply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j-lt"/>
              </a:rPr>
              <a:t>Single-file CUDA + SPDK implementation with no hand-holding</a:t>
            </a:r>
          </a:p>
        </p:txBody>
      </p:sp>
      <p:sp>
        <p:nvSpPr>
          <p:cNvPr id="42" name="Rectangle 2">
            <a:extLst>
              <a:ext uri="{FF2B5EF4-FFF2-40B4-BE49-F238E27FC236}">
                <a16:creationId xmlns:a16="http://schemas.microsoft.com/office/drawing/2014/main" id="{B898011C-A2AC-1903-84E4-3C54C7CAE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689515"/>
            <a:ext cx="906921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Identifying the right question to ask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Multi-file architectural changes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Closing system-level performance gaps</a:t>
            </a:r>
          </a:p>
          <a:p>
            <a:pPr marL="28575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j-lt"/>
              </a:rPr>
              <a:t>Flagging when system is far below hardware ceiling (This might be not Nous’s responsibility)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1957</Words>
  <Application>Microsoft Macintosh PowerPoint</Application>
  <PresentationFormat>Custom</PresentationFormat>
  <Paragraphs>214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Narangerelt Batsoyol</cp:lastModifiedBy>
  <cp:revision>32</cp:revision>
  <dcterms:created xsi:type="dcterms:W3CDTF">2013-01-27T09:14:16Z</dcterms:created>
  <dcterms:modified xsi:type="dcterms:W3CDTF">2026-05-22T15:55:22Z</dcterms:modified>
  <cp:category/>
</cp:coreProperties>
</file>