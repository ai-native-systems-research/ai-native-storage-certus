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</a:rPr>
              <a:t>Certus Server — Component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0" y="640080"/>
            <a:ext cx="3474720" cy="7315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65C0"/>
                </a:solidFill>
              </a:rPr>
              <a:t>Python Test Client</a:t>
            </a:r>
          </a:p>
          <a:p>
            <a:pPr algn="ctr"/>
            <a:r>
              <a:rPr sz="900" b="0">
                <a:solidFill>
                  <a:srgbClr val="1565C0"/>
                </a:solidFill>
              </a:rPr>
              <a:t>PyTorch GPU alloc • cudaIpcGetMemHandle • Batch gRPC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474720" cy="7315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gRPC Service Layer (tonic)</a:t>
            </a:r>
          </a:p>
          <a:p>
            <a:pPr algn="ctr"/>
            <a:r>
              <a:rPr sz="800" b="0">
                <a:solidFill>
                  <a:srgbClr val="2E7D32"/>
                </a:solidFill>
              </a:rPr>
              <a:t>Populate | Lookup | Check | Remove</a:t>
            </a:r>
          </a:p>
          <a:p>
            <a:pPr algn="ctr"/>
            <a:r>
              <a:rPr sz="800" b="0">
                <a:solidFill>
                  <a:srgbClr val="2E7D32"/>
                </a:solidFill>
              </a:rPr>
              <a:t>cudaIpcOpen/Close • batch→singular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468880"/>
            <a:ext cx="9418320" cy="137160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A1B9A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514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A1B9A"/>
                </a:solidFill>
              </a:rPr>
              <a:t>DispatcherComponentV0  «IDispatcher»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788920"/>
            <a:ext cx="2286000" cy="5029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6A1B9A"/>
                </a:solidFill>
              </a:rPr>
              <a:t>Dispatcher Core</a:t>
            </a:r>
          </a:p>
          <a:p>
            <a:pPr algn="ctr"/>
            <a:r>
              <a:rPr sz="800" b="0">
                <a:solidFill>
                  <a:srgbClr val="6A1B9A"/>
                </a:solidFill>
              </a:rPr>
              <a:t>populate • lookup • check • remove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788920"/>
            <a:ext cx="2011680" cy="50292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452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4527A0"/>
                </a:solidFill>
              </a:rPr>
              <a:t>BackgroundWriter</a:t>
            </a:r>
          </a:p>
          <a:p>
            <a:pPr algn="ctr"/>
            <a:r>
              <a:rPr sz="800" b="0">
                <a:solidFill>
                  <a:srgbClr val="4527A0"/>
                </a:solidFill>
              </a:rPr>
              <a:t>async staging→NVMe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743200"/>
            <a:ext cx="4114800" cy="914400"/>
          </a:xfrm>
          <a:prstGeom prst="roundRect">
            <a:avLst/>
          </a:prstGeom>
          <a:solidFill>
            <a:srgbClr val="F8F0FC"/>
          </a:solidFill>
          <a:ln w="19050">
            <a:solidFill>
              <a:srgbClr val="452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4527A0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70632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4527A0"/>
                </a:solidFill>
              </a:rPr>
              <a:t>DataDrive[0..N] (per --data-pci)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017520"/>
            <a:ext cx="1828800" cy="5029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BF3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BF360C"/>
                </a:solidFill>
              </a:rPr>
              <a:t>BlockDeviceSpdkNvmeV2</a:t>
            </a:r>
          </a:p>
          <a:p>
            <a:pPr algn="ctr"/>
            <a:r>
              <a:rPr sz="700" b="0">
                <a:solidFill>
                  <a:srgbClr val="BF360C"/>
                </a:solidFill>
              </a:rPr>
              <a:t>«IBlockDevice»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3017520"/>
            <a:ext cx="182880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E65100"/>
                </a:solidFill>
              </a:rPr>
              <a:t>ExtentManagerV2</a:t>
            </a:r>
          </a:p>
          <a:p>
            <a:pPr algn="ctr"/>
            <a:r>
              <a:rPr sz="700" b="0">
                <a:solidFill>
                  <a:srgbClr val="E65100"/>
                </a:solidFill>
              </a:rPr>
              <a:t>«IExtentManager»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337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6A1B9A"/>
                </a:solidFill>
              </a:rPr>
              <a:t>receptacles: dispatch_map, gpu_services, spdk_env, logger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023360"/>
            <a:ext cx="3200400" cy="91440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0695C"/>
                </a:solidFill>
              </a:rPr>
              <a:t>DispatchMapComponentV0</a:t>
            </a:r>
          </a:p>
          <a:p>
            <a:pPr algn="ctr"/>
            <a:r>
              <a:rPr sz="800" b="0">
                <a:solidFill>
                  <a:srgbClr val="00695C"/>
                </a:solidFill>
              </a:rPr>
              <a:t>«IDispatchMap»</a:t>
            </a:r>
          </a:p>
          <a:p>
            <a:pPr algn="ctr"/>
            <a:r>
              <a:rPr sz="800" b="0">
                <a:solidFill>
                  <a:srgbClr val="00695C"/>
                </a:solidFill>
              </a:rPr>
              <a:t>Entry Table: key → {Staging | BlockDevice}</a:t>
            </a:r>
          </a:p>
          <a:p>
            <a:pPr algn="ctr"/>
            <a:r>
              <a:rPr sz="800" b="0">
                <a:solidFill>
                  <a:srgbClr val="00695C"/>
                </a:solidFill>
              </a:rPr>
              <a:t>receptacles: extent_manager, logger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4023360"/>
            <a:ext cx="2926080" cy="914400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9A825"/>
                </a:solidFill>
              </a:rPr>
              <a:t>GpuServicesComponentV0</a:t>
            </a:r>
          </a:p>
          <a:p>
            <a:pPr algn="ctr"/>
            <a:r>
              <a:rPr sz="800" b="0">
                <a:solidFill>
                  <a:srgbClr val="F9A825"/>
                </a:solidFill>
              </a:rPr>
              <a:t>«IGpuServices»</a:t>
            </a:r>
          </a:p>
          <a:p>
            <a:pPr algn="ctr"/>
            <a:r>
              <a:rPr sz="800" b="0">
                <a:solidFill>
                  <a:srgbClr val="F9A825"/>
                </a:solidFill>
              </a:rPr>
              <a:t>cudaMemcpy (H2D / D2H)</a:t>
            </a:r>
          </a:p>
          <a:p>
            <a:pPr algn="ctr"/>
            <a:r>
              <a:rPr sz="800" b="0">
                <a:solidFill>
                  <a:srgbClr val="F9A825"/>
                </a:solidFill>
              </a:rPr>
              <a:t>receptacles: logger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023360"/>
            <a:ext cx="2011680" cy="9144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6161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16161"/>
                </a:solidFill>
              </a:rPr>
              <a:t>LoggerComponentV1</a:t>
            </a:r>
          </a:p>
          <a:p>
            <a:pPr algn="ctr"/>
            <a:r>
              <a:rPr sz="800" b="0">
                <a:solidFill>
                  <a:srgbClr val="616161"/>
                </a:solidFill>
              </a:rPr>
              <a:t>«ILogger»</a:t>
            </a:r>
          </a:p>
          <a:p>
            <a:pPr algn="ctr"/>
            <a:r>
              <a:rPr sz="800" b="0">
                <a:solidFill>
                  <a:srgbClr val="616161"/>
                </a:solidFill>
              </a:rPr>
              <a:t>Console + file logging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4023360"/>
            <a:ext cx="2377440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BF3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BF360C"/>
                </a:solidFill>
              </a:rPr>
              <a:t>SPDKEnvComponent</a:t>
            </a:r>
          </a:p>
          <a:p>
            <a:pPr algn="ctr"/>
            <a:r>
              <a:rPr sz="800" b="0">
                <a:solidFill>
                  <a:srgbClr val="BF360C"/>
                </a:solidFill>
              </a:rPr>
              <a:t>«ISPDKEnv»</a:t>
            </a:r>
          </a:p>
          <a:p>
            <a:pPr algn="ctr"/>
            <a:r>
              <a:rPr sz="800" b="0">
                <a:solidFill>
                  <a:srgbClr val="BF360C"/>
                </a:solidFill>
              </a:rPr>
              <a:t>DPDK/EAL init</a:t>
            </a:r>
          </a:p>
          <a:p>
            <a:pPr algn="ctr"/>
            <a:r>
              <a:rPr sz="800" b="0">
                <a:solidFill>
                  <a:srgbClr val="BF360C"/>
                </a:solidFill>
              </a:rPr>
              <a:t>VFIO device discovery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120640"/>
            <a:ext cx="2743200" cy="7315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65100"/>
                </a:solidFill>
              </a:rPr>
              <a:t>Metadata ExtentManagerV2</a:t>
            </a:r>
          </a:p>
          <a:p>
            <a:pPr algn="ctr"/>
            <a:r>
              <a:rPr sz="800" b="0">
                <a:solidFill>
                  <a:srgbClr val="E65100"/>
                </a:solidFill>
              </a:rPr>
              <a:t>«IExtentManager»</a:t>
            </a:r>
          </a:p>
          <a:p>
            <a:pPr algn="ctr"/>
            <a:r>
              <a:rPr sz="800" b="0">
                <a:solidFill>
                  <a:srgbClr val="E65100"/>
                </a:solidFill>
              </a:rPr>
              <a:t>receptacles: metadata_device, logger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5120640"/>
            <a:ext cx="2926080" cy="7315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BF3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BF360C"/>
                </a:solidFill>
              </a:rPr>
              <a:t>Metadata BlockDeviceSpdkNvmeV2</a:t>
            </a:r>
          </a:p>
          <a:p>
            <a:pPr algn="ctr"/>
            <a:r>
              <a:rPr sz="800" b="0">
                <a:solidFill>
                  <a:srgbClr val="BF360C"/>
                </a:solidFill>
              </a:rPr>
              <a:t>«IBlockDevice, IBlockDeviceAdmin»</a:t>
            </a:r>
          </a:p>
          <a:p>
            <a:pPr algn="ctr"/>
            <a:r>
              <a:rPr sz="800" b="0">
                <a:solidFill>
                  <a:srgbClr val="BF360C"/>
                </a:solidFill>
              </a:rPr>
              <a:t>receptacles: spdk_env, logger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6035040"/>
            <a:ext cx="2011680" cy="548640"/>
          </a:xfrm>
          <a:prstGeom prst="roundRect">
            <a:avLst/>
          </a:prstGeom>
          <a:solidFill>
            <a:srgbClr val="FFCCBC"/>
          </a:solidFill>
          <a:ln w="19050">
            <a:solidFill>
              <a:srgbClr val="BF3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BF360C"/>
                </a:solidFill>
              </a:rPr>
              <a:t>NVMe (metadata)</a:t>
            </a:r>
          </a:p>
          <a:p>
            <a:pPr algn="ctr"/>
            <a:r>
              <a:rPr sz="800" b="0">
                <a:solidFill>
                  <a:srgbClr val="BF360C"/>
                </a:solidFill>
              </a:rPr>
              <a:t>--metadata-pci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6035040"/>
            <a:ext cx="2011680" cy="548640"/>
          </a:xfrm>
          <a:prstGeom prst="roundRect">
            <a:avLst/>
          </a:prstGeom>
          <a:solidFill>
            <a:srgbClr val="FFCCBC"/>
          </a:solidFill>
          <a:ln w="19050">
            <a:solidFill>
              <a:srgbClr val="BF3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BF360C"/>
                </a:solidFill>
              </a:rPr>
              <a:t>NVMe (data) [0..N]</a:t>
            </a:r>
          </a:p>
          <a:p>
            <a:pPr algn="ctr"/>
            <a:r>
              <a:rPr sz="800" b="0">
                <a:solidFill>
                  <a:srgbClr val="BF360C"/>
                </a:solidFill>
              </a:rPr>
              <a:t>--data-pci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6035040"/>
            <a:ext cx="2011680" cy="548640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9A825"/>
                </a:solidFill>
              </a:rPr>
              <a:t>GPU (server context)</a:t>
            </a:r>
          </a:p>
          <a:p>
            <a:pPr algn="ctr"/>
            <a:r>
              <a:rPr sz="800" b="0">
                <a:solidFill>
                  <a:srgbClr val="F9A825"/>
                </a:solidFill>
              </a:rPr>
              <a:t>CUDA device 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6035040"/>
            <a:ext cx="1828800" cy="5486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65C0"/>
                </a:solidFill>
              </a:rPr>
              <a:t>GPU (client context)</a:t>
            </a:r>
          </a:p>
          <a:p>
            <a:pPr algn="ctr"/>
            <a:r>
              <a:rPr sz="800" b="0">
                <a:solidFill>
                  <a:srgbClr val="1565C0"/>
                </a:solidFill>
              </a:rPr>
              <a:t>CUDA IPC shared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26480" y="1371600"/>
            <a:ext cx="0" cy="182880"/>
          </a:xfrm>
          <a:prstGeom prst="line">
            <a:avLst/>
          </a:prstGeom>
          <a:ln w="1905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760720" y="13533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1565C0"/>
                </a:solidFill>
              </a:rPr>
              <a:t>gRPC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0" y="2286000"/>
            <a:ext cx="0" cy="182880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828800" y="3840480"/>
            <a:ext cx="457200" cy="182880"/>
          </a:xfrm>
          <a:prstGeom prst="line">
            <a:avLst/>
          </a:prstGeom>
          <a:ln w="1905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691640" y="38221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A1B9A"/>
                </a:solidFill>
              </a:rPr>
              <a:t>bind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0" y="3840480"/>
            <a:ext cx="274320" cy="182880"/>
          </a:xfrm>
          <a:prstGeom prst="line">
            <a:avLst/>
          </a:prstGeom>
          <a:ln w="1905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00600" y="38221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A1B9A"/>
                </a:solidFill>
              </a:rPr>
              <a:t>bind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0" y="3840480"/>
            <a:ext cx="1371600" cy="182880"/>
          </a:xfrm>
          <a:prstGeom prst="line">
            <a:avLst/>
          </a:prstGeom>
          <a:ln w="1905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464040" y="38221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A1B9A"/>
                </a:solidFill>
              </a:rPr>
              <a:t>bind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645920" y="4937760"/>
            <a:ext cx="182880" cy="182880"/>
          </a:xfrm>
          <a:prstGeom prst="line">
            <a:avLst/>
          </a:prstGeom>
          <a:ln w="19050">
            <a:solidFill>
              <a:srgbClr val="006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71600" y="491947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00695C"/>
                </a:solidFill>
              </a:rPr>
              <a:t>bind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017520" y="5486400"/>
            <a:ext cx="365760" cy="0"/>
          </a:xfrm>
          <a:prstGeom prst="line">
            <a:avLst/>
          </a:prstGeom>
          <a:ln w="1905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188720" y="5852160"/>
            <a:ext cx="2926080" cy="182880"/>
          </a:xfrm>
          <a:prstGeom prst="line">
            <a:avLst/>
          </a:prstGeom>
          <a:ln w="1905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286000" y="583387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BF360C"/>
                </a:solidFill>
              </a:rPr>
              <a:t>NVMe I/O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03520" y="4937760"/>
            <a:ext cx="1005840" cy="1097280"/>
          </a:xfrm>
          <a:prstGeom prst="line">
            <a:avLst/>
          </a:prstGeom>
          <a:ln w="190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40680" y="537667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F9A825"/>
                </a:solidFill>
              </a:rPr>
              <a:t>cudaMemcpy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3657600" y="4937760"/>
            <a:ext cx="6858000" cy="1097280"/>
          </a:xfrm>
          <a:prstGeom prst="line">
            <a:avLst/>
          </a:prstGeom>
          <a:ln w="1905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720840" y="537667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BF360C"/>
                </a:solidFill>
              </a:rPr>
              <a:t>VFIO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i="1">
                <a:solidFill>
                  <a:srgbClr val="666666"/>
                </a:solidFill>
              </a:rPr>
              <a:t>Data flow: Client GPU →(IPC)→ Server GPU →(DMA)→ Staging →(SPDK)→ NVMe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